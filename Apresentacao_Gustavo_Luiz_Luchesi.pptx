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02" y="28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a Costa" userId="c96d403436fc1ebf" providerId="LiveId" clId="{3DA2EC0E-3A60-4B0B-A9BF-3CB2279CC864}"/>
    <pc:docChg chg="undo custSel addSld modSld">
      <pc:chgData name="Renata Costa" userId="c96d403436fc1ebf" providerId="LiveId" clId="{3DA2EC0E-3A60-4B0B-A9BF-3CB2279CC864}" dt="2025-05-22T21:53:12.556" v="415" actId="6549"/>
      <pc:docMkLst>
        <pc:docMk/>
      </pc:docMkLst>
      <pc:sldChg chg="modSp mod">
        <pc:chgData name="Renata Costa" userId="c96d403436fc1ebf" providerId="LiveId" clId="{3DA2EC0E-3A60-4B0B-A9BF-3CB2279CC864}" dt="2025-05-22T21:53:12.556" v="415" actId="6549"/>
        <pc:sldMkLst>
          <pc:docMk/>
          <pc:sldMk cId="0" sldId="257"/>
        </pc:sldMkLst>
        <pc:spChg chg="mod">
          <ac:chgData name="Renata Costa" userId="c96d403436fc1ebf" providerId="LiveId" clId="{3DA2EC0E-3A60-4B0B-A9BF-3CB2279CC864}" dt="2025-05-22T21:43:01.032" v="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enata Costa" userId="c96d403436fc1ebf" providerId="LiveId" clId="{3DA2EC0E-3A60-4B0B-A9BF-3CB2279CC864}" dt="2025-05-22T21:53:12.556" v="415" actId="6549"/>
          <ac:spMkLst>
            <pc:docMk/>
            <pc:sldMk cId="0" sldId="257"/>
            <ac:spMk id="8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3:06.429" v="16" actId="20577"/>
          <ac:spMkLst>
            <pc:docMk/>
            <pc:sldMk cId="0" sldId="257"/>
            <ac:spMk id="9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9:05.696" v="206" actId="20577"/>
          <ac:spMkLst>
            <pc:docMk/>
            <pc:sldMk cId="0" sldId="257"/>
            <ac:spMk id="10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50:19.630" v="298" actId="20577"/>
          <ac:spMkLst>
            <pc:docMk/>
            <pc:sldMk cId="0" sldId="257"/>
            <ac:spMk id="3076" creationId="{2153AA99-8F89-44F6-89BE-50ADB104D03D}"/>
          </ac:spMkLst>
        </pc:spChg>
      </pc:sldChg>
      <pc:sldChg chg="addSp modSp mod modCm">
        <pc:chgData name="Renata Costa" userId="c96d403436fc1ebf" providerId="LiveId" clId="{3DA2EC0E-3A60-4B0B-A9BF-3CB2279CC864}" dt="2025-05-22T21:51:12.414" v="346"/>
        <pc:sldMkLst>
          <pc:docMk/>
          <pc:sldMk cId="0" sldId="258"/>
        </pc:sldMkLst>
        <pc:spChg chg="mod">
          <ac:chgData name="Renata Costa" userId="c96d403436fc1ebf" providerId="LiveId" clId="{3DA2EC0E-3A60-4B0B-A9BF-3CB2279CC864}" dt="2025-05-22T21:50:59.816" v="344" actId="6549"/>
          <ac:spMkLst>
            <pc:docMk/>
            <pc:sldMk cId="0" sldId="258"/>
            <ac:spMk id="4100" creationId="{D09F245C-E224-40FB-B22C-C18326684718}"/>
          </ac:spMkLst>
        </pc:spChg>
        <pc:picChg chg="add mod">
          <ac:chgData name="Renata Costa" userId="c96d403436fc1ebf" providerId="LiveId" clId="{3DA2EC0E-3A60-4B0B-A9BF-3CB2279CC864}" dt="2025-05-22T21:51:12.414" v="346"/>
          <ac:picMkLst>
            <pc:docMk/>
            <pc:sldMk cId="0" sldId="258"/>
            <ac:picMk id="2" creationId="{825EFEA0-FEEF-25D4-44D2-3DE30B5CE709}"/>
          </ac:picMkLst>
        </pc:picChg>
      </pc:sldChg>
      <pc:sldChg chg="addSp delSp modSp mod modCm">
        <pc:chgData name="Renata Costa" userId="c96d403436fc1ebf" providerId="LiveId" clId="{3DA2EC0E-3A60-4B0B-A9BF-3CB2279CC864}" dt="2025-05-22T21:45:25.345" v="64"/>
        <pc:sldMkLst>
          <pc:docMk/>
          <pc:sldMk cId="1004270343" sldId="262"/>
        </pc:sldMkLst>
        <pc:spChg chg="add mod">
          <ac:chgData name="Renata Costa" userId="c96d403436fc1ebf" providerId="LiveId" clId="{3DA2EC0E-3A60-4B0B-A9BF-3CB2279CC864}" dt="2025-05-22T21:45:09.967" v="63" actId="1076"/>
          <ac:spMkLst>
            <pc:docMk/>
            <pc:sldMk cId="1004270343" sldId="262"/>
            <ac:spMk id="2" creationId="{3C6B2C7A-E59D-5A67-500D-5262D5121C16}"/>
          </ac:spMkLst>
        </pc:spChg>
        <pc:spChg chg="del mod">
          <ac:chgData name="Renata Costa" userId="c96d403436fc1ebf" providerId="LiveId" clId="{3DA2EC0E-3A60-4B0B-A9BF-3CB2279CC864}" dt="2025-05-22T21:44:09.667" v="42" actId="478"/>
          <ac:spMkLst>
            <pc:docMk/>
            <pc:sldMk cId="1004270343" sldId="262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4:23.530" v="48" actId="1076"/>
          <ac:picMkLst>
            <pc:docMk/>
            <pc:sldMk cId="1004270343" sldId="262"/>
            <ac:picMk id="4099" creationId="{A9EB0ED6-083B-4BFA-9C57-A71D9212A144}"/>
          </ac:picMkLst>
        </pc:picChg>
      </pc:sldChg>
      <pc:sldChg chg="addSp delSp modSp mod">
        <pc:chgData name="Renata Costa" userId="c96d403436fc1ebf" providerId="LiveId" clId="{3DA2EC0E-3A60-4B0B-A9BF-3CB2279CC864}" dt="2025-05-22T21:46:19.352" v="113"/>
        <pc:sldMkLst>
          <pc:docMk/>
          <pc:sldMk cId="2149392476" sldId="263"/>
        </pc:sldMkLst>
        <pc:spChg chg="add del">
          <ac:chgData name="Renata Costa" userId="c96d403436fc1ebf" providerId="LiveId" clId="{3DA2EC0E-3A60-4B0B-A9BF-3CB2279CC864}" dt="2025-05-22T21:45:36.266" v="67" actId="22"/>
          <ac:spMkLst>
            <pc:docMk/>
            <pc:sldMk cId="2149392476" sldId="263"/>
            <ac:spMk id="3" creationId="{B6818BE9-28B0-787C-3CFD-F8A72C475623}"/>
          </ac:spMkLst>
        </pc:spChg>
        <pc:spChg chg="add mod">
          <ac:chgData name="Renata Costa" userId="c96d403436fc1ebf" providerId="LiveId" clId="{3DA2EC0E-3A60-4B0B-A9BF-3CB2279CC864}" dt="2025-05-22T21:46:19.352" v="113"/>
          <ac:spMkLst>
            <pc:docMk/>
            <pc:sldMk cId="2149392476" sldId="263"/>
            <ac:spMk id="4" creationId="{01DEED65-4293-70B7-FE9D-9EBEBFE6AC1C}"/>
          </ac:spMkLst>
        </pc:spChg>
        <pc:spChg chg="del">
          <ac:chgData name="Renata Costa" userId="c96d403436fc1ebf" providerId="LiveId" clId="{3DA2EC0E-3A60-4B0B-A9BF-3CB2279CC864}" dt="2025-05-22T21:45:32.597" v="65" actId="478"/>
          <ac:spMkLst>
            <pc:docMk/>
            <pc:sldMk cId="2149392476" sldId="263"/>
            <ac:spMk id="4100" creationId="{D09F245C-E224-40FB-B22C-C18326684718}"/>
          </ac:spMkLst>
        </pc:spChg>
      </pc:sldChg>
      <pc:sldChg chg="addSp delSp modSp modCm">
        <pc:chgData name="Renata Costa" userId="c96d403436fc1ebf" providerId="LiveId" clId="{3DA2EC0E-3A60-4B0B-A9BF-3CB2279CC864}" dt="2025-05-22T21:47:32.530" v="122"/>
        <pc:sldMkLst>
          <pc:docMk/>
          <pc:sldMk cId="3575197018" sldId="264"/>
        </pc:sldMkLst>
        <pc:spChg chg="add mod">
          <ac:chgData name="Renata Costa" userId="c96d403436fc1ebf" providerId="LiveId" clId="{3DA2EC0E-3A60-4B0B-A9BF-3CB2279CC864}" dt="2025-05-22T21:47:09.085" v="121" actId="1076"/>
          <ac:spMkLst>
            <pc:docMk/>
            <pc:sldMk cId="3575197018" sldId="264"/>
            <ac:spMk id="2" creationId="{3BAA0655-280C-904A-F03E-0947DA860559}"/>
          </ac:spMkLst>
        </pc:spChg>
        <pc:spChg chg="del">
          <ac:chgData name="Renata Costa" userId="c96d403436fc1ebf" providerId="LiveId" clId="{3DA2EC0E-3A60-4B0B-A9BF-3CB2279CC864}" dt="2025-05-22T21:46:50.602" v="116" actId="478"/>
          <ac:spMkLst>
            <pc:docMk/>
            <pc:sldMk cId="3575197018" sldId="264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6:57.392" v="119" actId="1076"/>
          <ac:picMkLst>
            <pc:docMk/>
            <pc:sldMk cId="3575197018" sldId="264"/>
            <ac:picMk id="9" creationId="{A9EB0ED6-083B-4BFA-9C57-A71D9212A144}"/>
          </ac:picMkLst>
        </pc:picChg>
      </pc:sldChg>
      <pc:sldChg chg="delSp modSp mod modCm">
        <pc:chgData name="Renata Costa" userId="c96d403436fc1ebf" providerId="LiveId" clId="{3DA2EC0E-3A60-4B0B-A9BF-3CB2279CC864}" dt="2025-05-22T21:48:42.792" v="204" actId="6549"/>
        <pc:sldMkLst>
          <pc:docMk/>
          <pc:sldMk cId="1283984288" sldId="265"/>
        </pc:sldMkLst>
        <pc:spChg chg="mod">
          <ac:chgData name="Renata Costa" userId="c96d403436fc1ebf" providerId="LiveId" clId="{3DA2EC0E-3A60-4B0B-A9BF-3CB2279CC864}" dt="2025-05-22T21:48:42.792" v="204" actId="6549"/>
          <ac:spMkLst>
            <pc:docMk/>
            <pc:sldMk cId="1283984288" sldId="265"/>
            <ac:spMk id="4100" creationId="{D09F245C-E224-40FB-B22C-C18326684718}"/>
          </ac:spMkLst>
        </pc:spChg>
        <pc:picChg chg="del">
          <ac:chgData name="Renata Costa" userId="c96d403436fc1ebf" providerId="LiveId" clId="{3DA2EC0E-3A60-4B0B-A9BF-3CB2279CC864}" dt="2025-05-22T21:47:39.309" v="123" actId="478"/>
          <ac:picMkLst>
            <pc:docMk/>
            <pc:sldMk cId="1283984288" sldId="265"/>
            <ac:picMk id="10" creationId="{00000000-0000-0000-0000-000000000000}"/>
          </ac:picMkLst>
        </pc:picChg>
      </pc:sldChg>
      <pc:sldChg chg="addSp delSp modSp">
        <pc:chgData name="Renata Costa" userId="c96d403436fc1ebf" providerId="LiveId" clId="{3DA2EC0E-3A60-4B0B-A9BF-3CB2279CC864}" dt="2025-05-22T21:46:32.570" v="115"/>
        <pc:sldMkLst>
          <pc:docMk/>
          <pc:sldMk cId="3472418953" sldId="266"/>
        </pc:sldMkLst>
        <pc:spChg chg="add mod">
          <ac:chgData name="Renata Costa" userId="c96d403436fc1ebf" providerId="LiveId" clId="{3DA2EC0E-3A60-4B0B-A9BF-3CB2279CC864}" dt="2025-05-22T21:46:32.570" v="115"/>
          <ac:spMkLst>
            <pc:docMk/>
            <pc:sldMk cId="3472418953" sldId="266"/>
            <ac:spMk id="2" creationId="{BF27EDCF-BF92-8A03-B585-1969DD1D7166}"/>
          </ac:spMkLst>
        </pc:spChg>
        <pc:spChg chg="del">
          <ac:chgData name="Renata Costa" userId="c96d403436fc1ebf" providerId="LiveId" clId="{3DA2EC0E-3A60-4B0B-A9BF-3CB2279CC864}" dt="2025-05-22T21:46:31.642" v="114" actId="478"/>
          <ac:spMkLst>
            <pc:docMk/>
            <pc:sldMk cId="3472418953" sldId="266"/>
            <ac:spMk id="4100" creationId="{D09F245C-E224-40FB-B22C-C18326684718}"/>
          </ac:spMkLst>
        </pc:spChg>
      </pc:sldChg>
      <pc:sldChg chg="modSp add mod">
        <pc:chgData name="Renata Costa" userId="c96d403436fc1ebf" providerId="LiveId" clId="{3DA2EC0E-3A60-4B0B-A9BF-3CB2279CC864}" dt="2025-05-22T21:51:50.364" v="384" actId="20577"/>
        <pc:sldMkLst>
          <pc:docMk/>
          <pc:sldMk cId="2028430281" sldId="267"/>
        </pc:sldMkLst>
        <pc:spChg chg="mod">
          <ac:chgData name="Renata Costa" userId="c96d403436fc1ebf" providerId="LiveId" clId="{3DA2EC0E-3A60-4B0B-A9BF-3CB2279CC864}" dt="2025-05-22T21:51:50.364" v="384" actId="20577"/>
          <ac:spMkLst>
            <pc:docMk/>
            <pc:sldMk cId="2028430281" sldId="267"/>
            <ac:spMk id="4100" creationId="{55F3FA2C-B60D-0465-6983-3F4AE419EBED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25" y="1900000"/>
            <a:ext cx="4262438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24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ACESSIBILIDADE DIGITAL EM INTERFACES WEB BRASILEIRAS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661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Isabella Luiza dos Santos Souza, Esp.</a:t>
            </a: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/>
            </a: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Gustavo Luiz Luchesi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3285" y="6026521"/>
            <a:ext cx="30451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0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ANÁLISE E DESENVOLVIMENTO DE SISTEMAS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25" y="3622457"/>
            <a:ext cx="426243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Acessibilidade web. WCAG 2.1. Inclusão digital.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2026.2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1400" b="1" dirty="0">
                <a:solidFill>
                  <a:srgbClr val="153553"/>
                </a:solidFill>
                <a:latin typeface="Verdana" pitchFamily="34" charset="0"/>
                <a:ea typeface="Verdana" pitchFamily="34" charset="0"/>
              </a:rPr>
              <a:t xml:space="preserve">Problemática</a:t>
            </a:r>
          </a:p>
          <a:p>
            <a:pPr marL="171450" indent="-171450">
              <a:spcAft>
                <a:spcPts val="900"/>
              </a:spcAft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Serviços essenciais migraram para a web, mas muitos sites ainda excluem pessoas com deficiência</a:t>
            </a:r>
          </a:p>
          <a:p>
            <a:pPr marL="171450" indent="-171450">
              <a:spcAft>
                <a:spcPts val="900"/>
              </a:spcAft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Pergunta: como as WCAG 2.1 são aplicadas em sites brasileiros e quais barreiras limitam a conformidade?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400" b="1" dirty="0">
                <a:solidFill>
                  <a:srgbClr val="153553"/>
                </a:solidFill>
                <a:latin typeface="Verdana" pitchFamily="34" charset="0"/>
                <a:ea typeface="Verdana" pitchFamily="34" charset="0"/>
              </a:rPr>
              <a:t xml:space="preserve">Justificativa</a:t>
            </a:r>
          </a:p>
          <a:p>
            <a:pPr marL="171450" indent="-171450">
              <a:spcAft>
                <a:spcPts val="900"/>
              </a:spcAft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Acessibilidade digital é obrigação legal (Lei nº 13.146/2015)</a:t>
            </a:r>
          </a:p>
          <a:p>
            <a:pPr marL="171450" indent="-171450">
              <a:spcAft>
                <a:spcPts val="900"/>
              </a:spcAft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Portais de ensino e de governo concentram serviços como matrícula e benefícios</a:t>
            </a:r>
          </a:p>
          <a:p>
            <a:pPr marL="171450" indent="-171450">
              <a:spcAft>
                <a:spcPts val="900"/>
              </a:spcAft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Falhas recorrentes mostram distância entre a norma e a prática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1400" b="1" dirty="0">
                <a:solidFill>
                  <a:srgbClr val="153553"/>
                </a:solidFill>
                <a:latin typeface="Verdana" pitchFamily="34" charset="0"/>
                <a:ea typeface="Verdana" pitchFamily="34" charset="0"/>
              </a:rPr>
              <a:t xml:space="preserve">Objetivo geral</a:t>
            </a:r>
          </a:p>
          <a:p>
            <a:pPr marL="171450" indent="-171450">
              <a:spcAft>
                <a:spcPts val="900"/>
              </a:spcAft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Analisar como as WCAG 2.1 são aplicadas em sites brasileiros e quais barreiras limitam a conformidade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1400" b="1" dirty="0">
                <a:solidFill>
                  <a:srgbClr val="153553"/>
                </a:solidFill>
                <a:latin typeface="Verdana" pitchFamily="34" charset="0"/>
                <a:ea typeface="Verdana" pitchFamily="34" charset="0"/>
              </a:rPr>
              <a:t xml:space="preserve">Objetivos específicos</a:t>
            </a:r>
          </a:p>
          <a:p>
            <a:pPr marL="171450" indent="-171450">
              <a:spcAft>
                <a:spcPts val="900"/>
              </a:spcAft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Mapear estudos que avaliam a conformidade de sites brasileiros com as WCAG</a:t>
            </a:r>
          </a:p>
          <a:p>
            <a:pPr marL="171450" indent="-171450">
              <a:spcAft>
                <a:spcPts val="900"/>
              </a:spcAft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Identificar os princípios com mais falhas</a:t>
            </a:r>
          </a:p>
          <a:p>
            <a:pPr marL="171450" indent="-171450">
              <a:spcAft>
                <a:spcPts val="900"/>
              </a:spcAft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Categorizar as barreiras em técnicas, organizacionais e formativas</a:t>
            </a:r>
          </a:p>
          <a:p>
            <a:pPr marL="171450" indent="-171450">
              <a:spcAft>
                <a:spcPts val="900"/>
              </a:spcAft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Sintetizar as recomendações para o desenvolvimento web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É uma abordagem qualitativa, de natureza teórica, sem procedimentos práticos e baseados em referenciais teóricos. </a:t>
            </a:r>
            <a:endParaRPr lang="pt-BR" sz="18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endParaRPr lang="pt-BR" sz="1000" dirty="0"/>
          </a:p>
          <a:p>
            <a:pPr marL="171450" indent="-171450">
              <a:spcAft>
                <a:spcPts val="900"/>
              </a:spcAft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Revisão bibliográfica na Biblioteca Digital da SBC e em periódicos de Sistemas de Informação</a:t>
            </a:r>
          </a:p>
          <a:p>
            <a:pPr marL="171450" indent="-171450">
              <a:spcAft>
                <a:spcPts val="900"/>
              </a:spcAft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Descritores: "acessibilidade web", "WCAG" e "e-MAG"</a:t>
            </a:r>
          </a:p>
          <a:p>
            <a:pPr marL="171450" indent="-171450">
              <a:spcAft>
                <a:spcPts val="900"/>
              </a:spcAft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Estudos empíricos de 2021 a 2026 sobre sites brasileiros</a:t>
            </a:r>
          </a:p>
          <a:p>
            <a:pPr marL="171450" indent="-171450">
              <a:spcAft>
                <a:spcPts val="900"/>
              </a:spcAft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3 artigos selecionados e analisados por categorização temática</a:t>
            </a: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spcAft>
                <a:spcPts val="900"/>
              </a:spcAft>
              <a:buFont typeface="Wingdings" pitchFamily="2" charset="2"/>
              <a:buChar char="ü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 xml:space="preserve">Batista e Baluz (2026):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20 sites de universidades públicas avaliados com o QualWeb</a:t>
            </a:r>
          </a:p>
          <a:p>
            <a:pPr marL="171450" indent="-171450">
              <a:spcAft>
                <a:spcPts val="900"/>
              </a:spcAft>
              <a:buFont typeface="Wingdings" pitchFamily="2" charset="2"/>
              <a:buChar char="ü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 xml:space="preserve">Batista e Baluz (2026):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média de falhas de 28,63% nas federais e 27,29% nas estaduais</a:t>
            </a:r>
          </a:p>
          <a:p>
            <a:pPr marL="171450" indent="-171450">
              <a:spcAft>
                <a:spcPts val="900"/>
              </a:spcAft>
              <a:buFont typeface="Wingdings" pitchFamily="2" charset="2"/>
              <a:buChar char="ü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 xml:space="preserve">Barros et al. (2024):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3 páginas do Gov.br avaliadas com ASES, AccessMonitor, TAW e Contrast Checker</a:t>
            </a:r>
          </a:p>
          <a:p>
            <a:pPr marL="171450" indent="-171450">
              <a:spcAft>
                <a:spcPts val="900"/>
              </a:spcAft>
              <a:buFont typeface="Wingdings" pitchFamily="2" charset="2"/>
              <a:buChar char="ü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 xml:space="preserve">Barros et al. (2024):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nenhuma página atende aos requisitos da Lei Brasileira de Inclusão</a:t>
            </a:r>
          </a:p>
          <a:p>
            <a:pPr marL="171450" indent="-171450">
              <a:spcAft>
                <a:spcPts val="900"/>
              </a:spcAft>
              <a:buFont typeface="Wingdings" pitchFamily="2" charset="2"/>
              <a:buChar char="ü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 xml:space="preserve">Camargo e Santos (2025):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Meu INSS avaliado com ASES, Axe-core e Lighthouse</a:t>
            </a: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spcAft>
                <a:spcPts val="900"/>
              </a:spcAft>
              <a:buFont typeface="Wingdings" pitchFamily="2" charset="2"/>
              <a:buChar char="ü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 xml:space="preserve">Os três estudos: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ausência de texto alternativo e contraste inadequado são as falhas dominantes</a:t>
            </a:r>
          </a:p>
          <a:p>
            <a:pPr marL="171450" indent="-171450">
              <a:spcAft>
                <a:spcPts val="900"/>
              </a:spcAft>
              <a:buFont typeface="Wingdings" pitchFamily="2" charset="2"/>
              <a:buChar char="ü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 xml:space="preserve">Barros et al. (2024):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90,71% a 97,69% no ASES (e-MAG), mas 5,6 a 7,3 de 10 no AccessMonitor (WCAG 2.1)</a:t>
            </a:r>
          </a:p>
          <a:p>
            <a:pPr marL="171450" indent="-171450">
              <a:spcAft>
                <a:spcPts val="900"/>
              </a:spcAft>
              <a:buFont typeface="Wingdings" pitchFamily="2" charset="2"/>
              <a:buChar char="ü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 xml:space="preserve">Divergência: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seguir o e-MAG não garante conformidade com as WCAG 2.1</a:t>
            </a:r>
          </a:p>
          <a:p>
            <a:pPr marL="171450" indent="-171450">
              <a:spcAft>
                <a:spcPts val="900"/>
              </a:spcAft>
              <a:buFont typeface="Wingdings" pitchFamily="2" charset="2"/>
              <a:buChar char="ü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 xml:space="preserve">Limite comum: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só ferramentas automáticas, sem testes com usuários com deficiência</a:t>
            </a:r>
          </a:p>
          <a:p>
            <a:pPr marL="171450" indent="-171450">
              <a:spcAft>
                <a:spcPts val="900"/>
              </a:spcAft>
              <a:buFont typeface="Wingdings" pitchFamily="2" charset="2"/>
              <a:buChar char="ü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 xml:space="preserve">Camargo e Santos (2025):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recomendações voltadas ao desenvolvedor</a:t>
            </a: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spcAft>
                <a:spcPts val="900"/>
              </a:spcAft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As WCAG 2.1 são aplicadas de forma parcial e inconsistente</a:t>
            </a:r>
          </a:p>
          <a:p>
            <a:pPr marL="171450" indent="-171450">
              <a:spcAft>
                <a:spcPts val="900"/>
              </a:spcAft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O diagnóstico depende da ferramenta usada</a:t>
            </a:r>
          </a:p>
          <a:p>
            <a:pPr marL="171450" indent="-171450">
              <a:spcAft>
                <a:spcPts val="900"/>
              </a:spcAft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As falhas mais comuns são simples e de baixo custo de correção</a:t>
            </a:r>
          </a:p>
          <a:p>
            <a:pPr marL="171450" indent="-171450">
              <a:spcAft>
                <a:spcPts val="900"/>
              </a:spcAft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Validar com mais de uma ferramenta e com usuários com deficiência</a:t>
            </a:r>
          </a:p>
          <a:p>
            <a:pPr marL="171450" indent="-171450">
              <a:spcAft>
                <a:spcPts val="900"/>
              </a:spcAft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Pesquisas futuras: causas da não conformidade e ensino de acessibilidade</a:t>
            </a: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spcAft>
                <a:spcPts val="800"/>
              </a:spcAft>
              <a:buFont typeface="Wingdings" pitchFamily="2" charset="2"/>
              <a:buChar char="ü"/>
            </a:pPr>
            <a:r>
              <a:rPr lang="pt-BR" sz="1000" dirty="0">
                <a:latin typeface="Verdana" pitchFamily="34" charset="0"/>
                <a:ea typeface="Verdana" pitchFamily="34" charset="0"/>
              </a:rPr>
              <a:t xml:space="preserve">BARROS, Ygor Santos; OUTÃO, Juliana Carvalho Silva do; SACRAMENTO, Carolina; FERREIRA, Simone Bacellar Leal; PIMENTEL, Mariano Gomes; SANTOS, Rodrigo Pereira dos. Avaliação de acessibilidade da plataforma Gov.br por ferramentas automatizadas. In: WORKSHOP DE COMPUTAÇÃO APLICADA EM GOVERNO ELETRÔNICO (WCGE), 12., 2024, Brasília. </a:t>
            </a:r>
            <a:r>
              <a:rPr lang="pt-BR" sz="1000" b="1" dirty="0">
                <a:latin typeface="Verdana" pitchFamily="34" charset="0"/>
                <a:ea typeface="Verdana" pitchFamily="34" charset="0"/>
              </a:rPr>
              <a:t xml:space="preserve">Anais</a:t>
            </a:r>
            <a:r>
              <a:rPr lang="pt-BR" sz="1000" dirty="0">
                <a:latin typeface="Verdana" pitchFamily="34" charset="0"/>
                <a:ea typeface="Verdana" pitchFamily="34" charset="0"/>
              </a:rPr>
              <a:t xml:space="preserve">. Porto Alegre: Sociedade Brasileira de Computação, 2024. p. 50-61. DOI: 10.5753/wcge.2024.2282.</a:t>
            </a:r>
          </a:p>
          <a:p>
            <a:pPr marL="171450" indent="-171450">
              <a:spcAft>
                <a:spcPts val="800"/>
              </a:spcAft>
              <a:buFont typeface="Wingdings" pitchFamily="2" charset="2"/>
              <a:buChar char="ü"/>
            </a:pPr>
            <a:r>
              <a:rPr lang="pt-BR" sz="1000" dirty="0">
                <a:latin typeface="Verdana" pitchFamily="34" charset="0"/>
                <a:ea typeface="Verdana" pitchFamily="34" charset="0"/>
              </a:rPr>
              <a:t xml:space="preserve">BATISTA, Heron Eduardo Nepomuceno; BALUZ, Rodrigo Augusto Rocha Souza. Avaliação de sites das instituições de ensino superior de acordo com as diretrizes de acessibilidade para conteúdo web (WCAG 2.1): uma análise comparativa das principais universidades federais e estaduais do Brasil. </a:t>
            </a:r>
            <a:r>
              <a:rPr lang="pt-BR" sz="1000" b="1" dirty="0">
                <a:latin typeface="Verdana" pitchFamily="34" charset="0"/>
                <a:ea typeface="Verdana" pitchFamily="34" charset="0"/>
              </a:rPr>
              <a:t xml:space="preserve">iSys: Revista Brasileira de Sistemas de Informação</a:t>
            </a:r>
            <a:r>
              <a:rPr lang="pt-BR" sz="1000" dirty="0">
                <a:latin typeface="Verdana" pitchFamily="34" charset="0"/>
                <a:ea typeface="Verdana" pitchFamily="34" charset="0"/>
              </a:rPr>
              <a:t xml:space="preserve">, v. 18, n. 1, p. 14:1-14:27, 2026. DOI: 10.5753/isys.2025.5401.</a:t>
            </a:r>
          </a:p>
          <a:p>
            <a:pPr marL="171450" indent="-171450">
              <a:spcAft>
                <a:spcPts val="800"/>
              </a:spcAft>
              <a:buFont typeface="Wingdings" pitchFamily="2" charset="2"/>
              <a:buChar char="ü"/>
            </a:pPr>
            <a:r>
              <a:rPr lang="pt-BR" sz="1000" dirty="0">
                <a:latin typeface="Verdana" pitchFamily="34" charset="0"/>
                <a:ea typeface="Verdana" pitchFamily="34" charset="0"/>
              </a:rPr>
              <a:t xml:space="preserve">BRASIL. Lei nº 13.146, de 6 de julho de 2015. Institui a Lei Brasileira de Inclusão da Pessoa com Deficiência. </a:t>
            </a:r>
            <a:r>
              <a:rPr lang="pt-BR" sz="1000" b="1" dirty="0">
                <a:latin typeface="Verdana" pitchFamily="34" charset="0"/>
                <a:ea typeface="Verdana" pitchFamily="34" charset="0"/>
              </a:rPr>
              <a:t xml:space="preserve">Diário Oficial da União</a:t>
            </a:r>
            <a:r>
              <a:rPr lang="pt-BR" sz="1000" dirty="0">
                <a:latin typeface="Verdana" pitchFamily="34" charset="0"/>
                <a:ea typeface="Verdana" pitchFamily="34" charset="0"/>
              </a:rPr>
              <a:t xml:space="preserve">, Brasília, DF, 7 jul. 2015.</a:t>
            </a:r>
          </a:p>
          <a:p>
            <a:pPr marL="171450" indent="-171450">
              <a:spcAft>
                <a:spcPts val="800"/>
              </a:spcAft>
              <a:buFont typeface="Wingdings" pitchFamily="2" charset="2"/>
              <a:buChar char="ü"/>
            </a:pPr>
            <a:r>
              <a:rPr lang="pt-BR" sz="1000" dirty="0">
                <a:latin typeface="Verdana" pitchFamily="34" charset="0"/>
                <a:ea typeface="Verdana" pitchFamily="34" charset="0"/>
              </a:rPr>
              <a:t xml:space="preserve">CAMARGO, Marcos Vinicius Lopes; SANTOS, Sylvana Karla S. L. Avaliação da acessibilidade digital do site de governo Meu INSS com foco no desenvolvedor. In: SIMPÓSIO BRASILEIRO SOBRE FATORES HUMANOS EM SISTEMAS COMPUTACIONAIS (IHC), 24., 2025, Belo Horizonte. </a:t>
            </a:r>
            <a:r>
              <a:rPr lang="pt-BR" sz="1000" b="1" dirty="0">
                <a:latin typeface="Verdana" pitchFamily="34" charset="0"/>
                <a:ea typeface="Verdana" pitchFamily="34" charset="0"/>
              </a:rPr>
              <a:t xml:space="preserve">Anais Estendidos</a:t>
            </a:r>
            <a:r>
              <a:rPr lang="pt-BR" sz="1000" dirty="0">
                <a:latin typeface="Verdana" pitchFamily="34" charset="0"/>
                <a:ea typeface="Verdana" pitchFamily="34" charset="0"/>
              </a:rPr>
              <a:t xml:space="preserve">. Porto Alegre: Sociedade Brasileira de Computação, 2025. p. 175-179. DOI: 10.5753/ihc_estendido.2025.13256.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471738"/>
            <a:ext cx="6705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“Acessibilidade digital é direito,</a:t>
            </a:r>
          </a:p>
          <a:p>
            <a:pPr algn="ctr">
              <a:spcBef>
                <a:spcPct val="50000"/>
              </a:spcBef>
            </a:pPr>
            <a:r>
              <a:rPr lang="pt-BR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não recurso extra.”</a:t>
            </a:r>
          </a:p>
          <a:p>
            <a:pPr algn="ctr">
              <a:spcBef>
                <a:spcPct val="50000"/>
              </a:spcBef>
            </a:pPr>
            <a:r>
              <a:rPr lang="pt-BR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Obrigado!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887</TotalTime>
  <Words>201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Segoe UI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Renata Costa</cp:lastModifiedBy>
  <cp:revision>20</cp:revision>
  <dcterms:created xsi:type="dcterms:W3CDTF">2021-05-14T17:32:15Z</dcterms:created>
  <dcterms:modified xsi:type="dcterms:W3CDTF">2025-05-22T21:53:16Z</dcterms:modified>
</cp:coreProperties>
</file>