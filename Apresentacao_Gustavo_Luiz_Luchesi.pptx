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256" r:id="rId4"/>
    <p:sldId id="257" r:id="rId5"/>
    <p:sldId id="258" r:id="rId6"/>
    <p:sldId id="267" r:id="rId7"/>
    <p:sldId id="262" r:id="rId8"/>
    <p:sldId id="263" r:id="rId9"/>
    <p:sldId id="266" r:id="rId10"/>
    <p:sldId id="264" r:id="rId11"/>
    <p:sldId id="265" r:id="rId12"/>
    <p:sldId id="259" r:id="rId13"/>
    <p:sldId id="261" r:id="rId14"/>
  </p:sldIdLst>
  <p:sldSz cx="12192000" cy="6858000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ENATA" initials="R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2EC0E-3A60-4B0B-A9BF-3CB2279CC864}" v="28" dt="2025-05-22T21:51:34.2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4" d="100"/>
          <a:sy n="74" d="100"/>
        </p:scale>
        <p:origin x="302" y="28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21" Type="http://schemas.microsoft.com/office/2015/10/relationships/revisionInfo" Target="revisionInfo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commentAuthors" Target="commentAuthors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ta Costa" userId="c96d403436fc1ebf" providerId="LiveId" clId="{3DA2EC0E-3A60-4B0B-A9BF-3CB2279CC864}"/>
    <pc:docChg chg="undo custSel addSld modSld">
      <pc:chgData name="Renata Costa" userId="c96d403436fc1ebf" providerId="LiveId" clId="{3DA2EC0E-3A60-4B0B-A9BF-3CB2279CC864}" dt="2025-05-22T21:53:12.556" v="415" actId="6549"/>
      <pc:docMkLst>
        <pc:docMk/>
      </pc:docMkLst>
      <pc:sldChg chg="modSp mod">
        <pc:chgData name="Renata Costa" userId="c96d403436fc1ebf" providerId="LiveId" clId="{3DA2EC0E-3A60-4B0B-A9BF-3CB2279CC864}" dt="2025-05-22T21:53:12.556" v="415" actId="6549"/>
        <pc:sldMkLst>
          <pc:docMk/>
          <pc:sldMk cId="0" sldId="257"/>
        </pc:sldMkLst>
        <pc:spChg chg="mod">
          <ac:chgData name="Renata Costa" userId="c96d403436fc1ebf" providerId="LiveId" clId="{3DA2EC0E-3A60-4B0B-A9BF-3CB2279CC864}" dt="2025-05-22T21:43:01.032" v="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Renata Costa" userId="c96d403436fc1ebf" providerId="LiveId" clId="{3DA2EC0E-3A60-4B0B-A9BF-3CB2279CC864}" dt="2025-05-22T21:53:12.556" v="415" actId="6549"/>
          <ac:spMkLst>
            <pc:docMk/>
            <pc:sldMk cId="0" sldId="257"/>
            <ac:spMk id="8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43:06.429" v="16" actId="20577"/>
          <ac:spMkLst>
            <pc:docMk/>
            <pc:sldMk cId="0" sldId="257"/>
            <ac:spMk id="9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49:05.696" v="206" actId="20577"/>
          <ac:spMkLst>
            <pc:docMk/>
            <pc:sldMk cId="0" sldId="257"/>
            <ac:spMk id="10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50:19.630" v="298" actId="20577"/>
          <ac:spMkLst>
            <pc:docMk/>
            <pc:sldMk cId="0" sldId="257"/>
            <ac:spMk id="3076" creationId="{2153AA99-8F89-44F6-89BE-50ADB104D03D}"/>
          </ac:spMkLst>
        </pc:spChg>
      </pc:sldChg>
      <pc:sldChg chg="addSp modSp mod modCm">
        <pc:chgData name="Renata Costa" userId="c96d403436fc1ebf" providerId="LiveId" clId="{3DA2EC0E-3A60-4B0B-A9BF-3CB2279CC864}" dt="2025-05-22T21:51:12.414" v="346"/>
        <pc:sldMkLst>
          <pc:docMk/>
          <pc:sldMk cId="0" sldId="258"/>
        </pc:sldMkLst>
        <pc:spChg chg="mod">
          <ac:chgData name="Renata Costa" userId="c96d403436fc1ebf" providerId="LiveId" clId="{3DA2EC0E-3A60-4B0B-A9BF-3CB2279CC864}" dt="2025-05-22T21:50:59.816" v="344" actId="6549"/>
          <ac:spMkLst>
            <pc:docMk/>
            <pc:sldMk cId="0" sldId="258"/>
            <ac:spMk id="4100" creationId="{D09F245C-E224-40FB-B22C-C18326684718}"/>
          </ac:spMkLst>
        </pc:spChg>
        <pc:picChg chg="add mod">
          <ac:chgData name="Renata Costa" userId="c96d403436fc1ebf" providerId="LiveId" clId="{3DA2EC0E-3A60-4B0B-A9BF-3CB2279CC864}" dt="2025-05-22T21:51:12.414" v="346"/>
          <ac:picMkLst>
            <pc:docMk/>
            <pc:sldMk cId="0" sldId="258"/>
            <ac:picMk id="2" creationId="{825EFEA0-FEEF-25D4-44D2-3DE30B5CE709}"/>
          </ac:picMkLst>
        </pc:picChg>
      </pc:sldChg>
      <pc:sldChg chg="addSp delSp modSp mod modCm">
        <pc:chgData name="Renata Costa" userId="c96d403436fc1ebf" providerId="LiveId" clId="{3DA2EC0E-3A60-4B0B-A9BF-3CB2279CC864}" dt="2025-05-22T21:45:25.345" v="64"/>
        <pc:sldMkLst>
          <pc:docMk/>
          <pc:sldMk cId="1004270343" sldId="262"/>
        </pc:sldMkLst>
        <pc:spChg chg="add mod">
          <ac:chgData name="Renata Costa" userId="c96d403436fc1ebf" providerId="LiveId" clId="{3DA2EC0E-3A60-4B0B-A9BF-3CB2279CC864}" dt="2025-05-22T21:45:09.967" v="63" actId="1076"/>
          <ac:spMkLst>
            <pc:docMk/>
            <pc:sldMk cId="1004270343" sldId="262"/>
            <ac:spMk id="2" creationId="{3C6B2C7A-E59D-5A67-500D-5262D5121C16}"/>
          </ac:spMkLst>
        </pc:spChg>
        <pc:spChg chg="del mod">
          <ac:chgData name="Renata Costa" userId="c96d403436fc1ebf" providerId="LiveId" clId="{3DA2EC0E-3A60-4B0B-A9BF-3CB2279CC864}" dt="2025-05-22T21:44:09.667" v="42" actId="478"/>
          <ac:spMkLst>
            <pc:docMk/>
            <pc:sldMk cId="1004270343" sldId="262"/>
            <ac:spMk id="4100" creationId="{D09F245C-E224-40FB-B22C-C18326684718}"/>
          </ac:spMkLst>
        </pc:spChg>
        <pc:picChg chg="mod">
          <ac:chgData name="Renata Costa" userId="c96d403436fc1ebf" providerId="LiveId" clId="{3DA2EC0E-3A60-4B0B-A9BF-3CB2279CC864}" dt="2025-05-22T21:44:23.530" v="48" actId="1076"/>
          <ac:picMkLst>
            <pc:docMk/>
            <pc:sldMk cId="1004270343" sldId="262"/>
            <ac:picMk id="4099" creationId="{A9EB0ED6-083B-4BFA-9C57-A71D9212A144}"/>
          </ac:picMkLst>
        </pc:picChg>
      </pc:sldChg>
      <pc:sldChg chg="addSp delSp modSp mod">
        <pc:chgData name="Renata Costa" userId="c96d403436fc1ebf" providerId="LiveId" clId="{3DA2EC0E-3A60-4B0B-A9BF-3CB2279CC864}" dt="2025-05-22T21:46:19.352" v="113"/>
        <pc:sldMkLst>
          <pc:docMk/>
          <pc:sldMk cId="2149392476" sldId="263"/>
        </pc:sldMkLst>
        <pc:spChg chg="add del">
          <ac:chgData name="Renata Costa" userId="c96d403436fc1ebf" providerId="LiveId" clId="{3DA2EC0E-3A60-4B0B-A9BF-3CB2279CC864}" dt="2025-05-22T21:45:36.266" v="67" actId="22"/>
          <ac:spMkLst>
            <pc:docMk/>
            <pc:sldMk cId="2149392476" sldId="263"/>
            <ac:spMk id="3" creationId="{B6818BE9-28B0-787C-3CFD-F8A72C475623}"/>
          </ac:spMkLst>
        </pc:spChg>
        <pc:spChg chg="add mod">
          <ac:chgData name="Renata Costa" userId="c96d403436fc1ebf" providerId="LiveId" clId="{3DA2EC0E-3A60-4B0B-A9BF-3CB2279CC864}" dt="2025-05-22T21:46:19.352" v="113"/>
          <ac:spMkLst>
            <pc:docMk/>
            <pc:sldMk cId="2149392476" sldId="263"/>
            <ac:spMk id="4" creationId="{01DEED65-4293-70B7-FE9D-9EBEBFE6AC1C}"/>
          </ac:spMkLst>
        </pc:spChg>
        <pc:spChg chg="del">
          <ac:chgData name="Renata Costa" userId="c96d403436fc1ebf" providerId="LiveId" clId="{3DA2EC0E-3A60-4B0B-A9BF-3CB2279CC864}" dt="2025-05-22T21:45:32.597" v="65" actId="478"/>
          <ac:spMkLst>
            <pc:docMk/>
            <pc:sldMk cId="2149392476" sldId="263"/>
            <ac:spMk id="4100" creationId="{D09F245C-E224-40FB-B22C-C18326684718}"/>
          </ac:spMkLst>
        </pc:spChg>
      </pc:sldChg>
      <pc:sldChg chg="addSp delSp modSp modCm">
        <pc:chgData name="Renata Costa" userId="c96d403436fc1ebf" providerId="LiveId" clId="{3DA2EC0E-3A60-4B0B-A9BF-3CB2279CC864}" dt="2025-05-22T21:47:32.530" v="122"/>
        <pc:sldMkLst>
          <pc:docMk/>
          <pc:sldMk cId="3575197018" sldId="264"/>
        </pc:sldMkLst>
        <pc:spChg chg="add mod">
          <ac:chgData name="Renata Costa" userId="c96d403436fc1ebf" providerId="LiveId" clId="{3DA2EC0E-3A60-4B0B-A9BF-3CB2279CC864}" dt="2025-05-22T21:47:09.085" v="121" actId="1076"/>
          <ac:spMkLst>
            <pc:docMk/>
            <pc:sldMk cId="3575197018" sldId="264"/>
            <ac:spMk id="2" creationId="{3BAA0655-280C-904A-F03E-0947DA860559}"/>
          </ac:spMkLst>
        </pc:spChg>
        <pc:spChg chg="del">
          <ac:chgData name="Renata Costa" userId="c96d403436fc1ebf" providerId="LiveId" clId="{3DA2EC0E-3A60-4B0B-A9BF-3CB2279CC864}" dt="2025-05-22T21:46:50.602" v="116" actId="478"/>
          <ac:spMkLst>
            <pc:docMk/>
            <pc:sldMk cId="3575197018" sldId="264"/>
            <ac:spMk id="4100" creationId="{D09F245C-E224-40FB-B22C-C18326684718}"/>
          </ac:spMkLst>
        </pc:spChg>
        <pc:picChg chg="mod">
          <ac:chgData name="Renata Costa" userId="c96d403436fc1ebf" providerId="LiveId" clId="{3DA2EC0E-3A60-4B0B-A9BF-3CB2279CC864}" dt="2025-05-22T21:46:57.392" v="119" actId="1076"/>
          <ac:picMkLst>
            <pc:docMk/>
            <pc:sldMk cId="3575197018" sldId="264"/>
            <ac:picMk id="9" creationId="{A9EB0ED6-083B-4BFA-9C57-A71D9212A144}"/>
          </ac:picMkLst>
        </pc:picChg>
      </pc:sldChg>
      <pc:sldChg chg="delSp modSp mod modCm">
        <pc:chgData name="Renata Costa" userId="c96d403436fc1ebf" providerId="LiveId" clId="{3DA2EC0E-3A60-4B0B-A9BF-3CB2279CC864}" dt="2025-05-22T21:48:42.792" v="204" actId="6549"/>
        <pc:sldMkLst>
          <pc:docMk/>
          <pc:sldMk cId="1283984288" sldId="265"/>
        </pc:sldMkLst>
        <pc:spChg chg="mod">
          <ac:chgData name="Renata Costa" userId="c96d403436fc1ebf" providerId="LiveId" clId="{3DA2EC0E-3A60-4B0B-A9BF-3CB2279CC864}" dt="2025-05-22T21:48:42.792" v="204" actId="6549"/>
          <ac:spMkLst>
            <pc:docMk/>
            <pc:sldMk cId="1283984288" sldId="265"/>
            <ac:spMk id="4100" creationId="{D09F245C-E224-40FB-B22C-C18326684718}"/>
          </ac:spMkLst>
        </pc:spChg>
        <pc:picChg chg="del">
          <ac:chgData name="Renata Costa" userId="c96d403436fc1ebf" providerId="LiveId" clId="{3DA2EC0E-3A60-4B0B-A9BF-3CB2279CC864}" dt="2025-05-22T21:47:39.309" v="123" actId="478"/>
          <ac:picMkLst>
            <pc:docMk/>
            <pc:sldMk cId="1283984288" sldId="265"/>
            <ac:picMk id="10" creationId="{00000000-0000-0000-0000-000000000000}"/>
          </ac:picMkLst>
        </pc:picChg>
      </pc:sldChg>
      <pc:sldChg chg="addSp delSp modSp">
        <pc:chgData name="Renata Costa" userId="c96d403436fc1ebf" providerId="LiveId" clId="{3DA2EC0E-3A60-4B0B-A9BF-3CB2279CC864}" dt="2025-05-22T21:46:32.570" v="115"/>
        <pc:sldMkLst>
          <pc:docMk/>
          <pc:sldMk cId="3472418953" sldId="266"/>
        </pc:sldMkLst>
        <pc:spChg chg="add mod">
          <ac:chgData name="Renata Costa" userId="c96d403436fc1ebf" providerId="LiveId" clId="{3DA2EC0E-3A60-4B0B-A9BF-3CB2279CC864}" dt="2025-05-22T21:46:32.570" v="115"/>
          <ac:spMkLst>
            <pc:docMk/>
            <pc:sldMk cId="3472418953" sldId="266"/>
            <ac:spMk id="2" creationId="{BF27EDCF-BF92-8A03-B585-1969DD1D7166}"/>
          </ac:spMkLst>
        </pc:spChg>
        <pc:spChg chg="del">
          <ac:chgData name="Renata Costa" userId="c96d403436fc1ebf" providerId="LiveId" clId="{3DA2EC0E-3A60-4B0B-A9BF-3CB2279CC864}" dt="2025-05-22T21:46:31.642" v="114" actId="478"/>
          <ac:spMkLst>
            <pc:docMk/>
            <pc:sldMk cId="3472418953" sldId="266"/>
            <ac:spMk id="4100" creationId="{D09F245C-E224-40FB-B22C-C18326684718}"/>
          </ac:spMkLst>
        </pc:spChg>
      </pc:sldChg>
      <pc:sldChg chg="modSp add mod">
        <pc:chgData name="Renata Costa" userId="c96d403436fc1ebf" providerId="LiveId" clId="{3DA2EC0E-3A60-4B0B-A9BF-3CB2279CC864}" dt="2025-05-22T21:51:50.364" v="384" actId="20577"/>
        <pc:sldMkLst>
          <pc:docMk/>
          <pc:sldMk cId="2028430281" sldId="267"/>
        </pc:sldMkLst>
        <pc:spChg chg="mod">
          <ac:chgData name="Renata Costa" userId="c96d403436fc1ebf" providerId="LiveId" clId="{3DA2EC0E-3A60-4B0B-A9BF-3CB2279CC864}" dt="2025-05-22T21:51:50.364" v="384" actId="20577"/>
          <ac:spMkLst>
            <pc:docMk/>
            <pc:sldMk cId="2028430281" sldId="267"/>
            <ac:spMk id="4100" creationId="{55F3FA2C-B60D-0465-6983-3F4AE419EBED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4">
    <p:pos x="3004" y="382"/>
    <p:text>Problemática
Justificativa
Objetivo Geral
Objetivos Específicos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10">
    <p:pos x="3004" y="382"/>
    <p:text>Problemática
Justificativa
Objetivo Geral
Objetivos Específicos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5:59.687" idx="5">
    <p:pos x="6774" y="708"/>
    <p:text>NÃO MUDAR ESSA FRASE: é uma abordagem qualitativa, de natureza teórica, sem procedimentos práticos e baseados em referenciais teóricos.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6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7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1:17.556" idx="8">
    <p:pos x="4500" y="846"/>
    <p:text>Relevância da pesquisa
Proposição de outros estudos e dos estudos práticos (desenvolvimento do sistema)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2:14.520" idx="9">
    <p:pos x="3404" y="394"/>
    <p:text>As utilizadas no resumo
somentes as citadas no resumo. No formato ABNT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54BF1D-9063-4BEE-8C72-9172F3A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60633D-40BE-4823-9D70-E90BB7E20D1C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69E3E4-B284-4FE0-B385-0F8C00EF3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5AF429-F4C5-4AE9-85EC-F9081058D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76E9B-F499-4203-B2B7-B90579D709D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2083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09E057-8CC4-4B72-9DC1-A3142181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4E774B-487E-45DD-9EDF-6BED9A23258C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A54BED-FCEE-4716-B9AD-92F175B41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60C75F-45BA-47EC-BF95-DB68E04D4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504699-A3AE-447D-826C-41FBB7146AD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07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680335-1A72-4BAF-9C76-726DB679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E496CB-9C79-4F24-8900-BEAF2F43C272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4608FB-BD3D-43E9-987C-7A569FA60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923D7B-8A56-4460-BE44-AECAC8F96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E72C3A-DFB6-4362-8AA1-77746B1B40D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334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1376A55-6023-45D0-B48D-15049DA29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73C6A4-A5A0-4D45-846F-65CCFFEEC21A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4080E98E-C07A-4400-8991-186F4B90F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5AC8817-6596-40C4-A8E0-8FFAC94E2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E2781E-1EB2-4E16-A791-F5211820C14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101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2861D758-1FE0-4971-BE41-9F6028AAC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22D825-50E8-407D-964F-390DD4A6EBBE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DE358DC8-9B77-498D-8753-A078F121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2CE94B5D-1616-4C55-A89B-40ECCC078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2693F5-9C85-43CB-B7E0-FB01AAC861D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051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BA2D40DB-7005-4836-B972-A18333792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099B0-8A28-4091-9FCE-463505D2C396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8A1047F2-59FB-44FD-BD83-11D13BC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AB6F6D58-2A68-431F-BD29-0AD166C3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1B0F8-74DD-4CFD-9ECB-AEA8D334A80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574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4DCEA456-5F93-42B8-90D3-B80767151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7A9671-140B-4CAD-94EE-9C8FE680A172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D4872FA2-4B83-4B64-8CCD-4099798E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2DF0C6A5-97D8-446D-8FB0-32AFAFF2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73105E-A30B-4646-AAA3-D14AC42A754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401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5C0CF51B-150F-4068-9B69-BE5A440B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2EE6E-4B83-4D73-9FEE-DE8B52599F73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6E956705-34F3-4C04-8055-8FC6BB75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A4CA0301-8D71-4A14-AF5C-73E8B5D2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B0A42F-E3C1-4FE4-BAB8-FE2E13519CF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993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C6A6CFAF-0039-4742-BF82-6A3297D5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D17BCC-C147-4A22-9D3F-1A183D22AB45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7001FB79-1E19-4F7F-AABA-F8DD36486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027E90B3-6B96-499F-B52E-480CED0B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984595-D2D9-4499-BBBF-2895162EC21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383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837088-123D-4E52-B5EE-F08245DEC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C92DF3-17FE-4197-A72D-5EC4B2ABA984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B51A36-6804-4661-B7CE-7F1051459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EA23DC-5335-4790-8FE8-A9D877E7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9F0D61-2AED-4ECA-9E41-BCE1FB0F7CE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7967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577FD3-66D5-44AA-9AEA-1638DCFEC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FADCA3-6B48-42C4-B0DF-65A35F6686A5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20080C-E1B6-48A7-AAA3-3B83BC5E9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0622DC-C128-40FE-9C25-D2F199A0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654256-EFD0-4C01-8578-2EF66A3C434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95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77D4EDEA-CACC-4B35-A5FD-343ED0E89A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3E47DE05-9267-49D0-929B-B87455901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D47411-213C-4A24-A115-2F843872FE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0998AB7-6241-4527-818B-1F510D3FF9C9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C4DAFF-9CD9-46A5-9816-EAB3A142CD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60DC86-0528-45D8-A884-FD62E2029F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06AE7DB-D177-4AFD-9C5A-47E4B8C9750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ítulo 1">
            <a:extLst>
              <a:ext uri="{FF2B5EF4-FFF2-40B4-BE49-F238E27FC236}">
                <a16:creationId xmlns:a16="http://schemas.microsoft.com/office/drawing/2014/main" id="{35EB6B86-5848-4EE5-B863-DD00F306704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endParaRPr lang="pt-BR" altLang="pt-BR" dirty="0"/>
          </a:p>
        </p:txBody>
      </p:sp>
      <p:sp>
        <p:nvSpPr>
          <p:cNvPr id="2051" name="Subtítulo 2">
            <a:extLst>
              <a:ext uri="{FF2B5EF4-FFF2-40B4-BE49-F238E27FC236}">
                <a16:creationId xmlns:a16="http://schemas.microsoft.com/office/drawing/2014/main" id="{EFAE6E1B-4A73-4637-B080-37FEF0FFBAE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pt-BR" altLang="pt-BR" dirty="0"/>
          </a:p>
        </p:txBody>
      </p:sp>
      <p:pic>
        <p:nvPicPr>
          <p:cNvPr id="2052" name="Imagem 4" descr="Gráfico, Gráfico de funil&#10;&#10;Descrição gerada automaticamente">
            <a:extLst>
              <a:ext uri="{FF2B5EF4-FFF2-40B4-BE49-F238E27FC236}">
                <a16:creationId xmlns:a16="http://schemas.microsoft.com/office/drawing/2014/main" id="{876DEAEF-F5B3-4719-8ED0-6E0EC47C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Imagem 8" descr="Logotipo&#10;&#10;Descrição gerada automaticamente com confiança baixa">
            <a:extLst>
              <a:ext uri="{FF2B5EF4-FFF2-40B4-BE49-F238E27FC236}">
                <a16:creationId xmlns:a16="http://schemas.microsoft.com/office/drawing/2014/main" id="{AAD5FBF0-2170-4100-A44E-5DCD823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638" y="2763837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ítulo 1">
            <a:extLst>
              <a:ext uri="{FF2B5EF4-FFF2-40B4-BE49-F238E27FC236}">
                <a16:creationId xmlns:a16="http://schemas.microsoft.com/office/drawing/2014/main" id="{D21B3ED0-D5BF-48AB-93CA-9B9E222924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3075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F7102E8A-CB45-4A10-AB16-9CFF74D650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307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6625" y="1900000"/>
            <a:ext cx="4262438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24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ACESSIBILIDADE DIGITAL EM INTERFACES WEB BRASILEIRAS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7675" y="2237462"/>
            <a:ext cx="3234906" cy="16619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200" b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Profa. Isabella Luiza dos Santos Souza, Esp.</a:t>
            </a:r>
            <a:r>
              <a:rPr lang="pt-BR" altLang="pt-BR" sz="12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/>
            </a:r>
          </a:p>
          <a:p>
            <a:pPr>
              <a:spcBef>
                <a:spcPct val="50000"/>
              </a:spcBef>
            </a:pPr>
            <a:endParaRPr lang="pt-BR" altLang="pt-BR" sz="1200" dirty="0">
              <a:solidFill>
                <a:srgbClr val="153553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Gustavo Luiz Luchesi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93285" y="6026521"/>
            <a:ext cx="30451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1000" b="1" dirty="0">
                <a:solidFill>
                  <a:schemeClr val="bg1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ANÁLISE E DESENVOLVIMENTO DE SISTEMAS</a:t>
            </a:r>
          </a:p>
        </p:txBody>
      </p:sp>
      <p:sp>
        <p:nvSpPr>
          <p:cNvPr id="10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6625" y="3622457"/>
            <a:ext cx="426243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Acessibilidade web. WCAG 2.1. Inclusão digital.</a:t>
            </a:r>
          </a:p>
        </p:txBody>
      </p:sp>
      <p:pic>
        <p:nvPicPr>
          <p:cNvPr id="15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344" y="5931073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0215847" y="5254109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pt-BR" altLang="pt-BR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2026.2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400" b="1" dirty="0">
                <a:solidFill>
                  <a:srgbClr val="153553"/>
                </a:solidFill>
                <a:latin typeface="Verdana" pitchFamily="34" charset="0"/>
                <a:ea typeface="Verdana" pitchFamily="34" charset="0"/>
              </a:rPr>
              <a:t xml:space="preserve">Problemática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Serviços essenciais migraram para a web, mas muitos sites ainda excluem pessoas com deficiência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Pergunta: como as WCAG 2.1 são aplicadas em sites brasileiros e quais barreiras limitam a conformidade?</a:t>
            </a:r>
          </a:p>
          <a:p>
            <a:pPr>
              <a:spcBef>
                <a:spcPts val="600"/>
              </a:spcBef>
              <a:spcAft>
                <a:spcPts val="600"/>
              </a:spcAft>
              <a:buNone/>
            </a:pPr>
            <a:r>
              <a:rPr lang="pt-BR" sz="1400" b="1" dirty="0">
                <a:solidFill>
                  <a:srgbClr val="153553"/>
                </a:solidFill>
                <a:latin typeface="Verdana" pitchFamily="34" charset="0"/>
                <a:ea typeface="Verdana" pitchFamily="34" charset="0"/>
              </a:rPr>
              <a:t xml:space="preserve">Justificativa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Acessibilidade digital é obrigação legal (Lei nº 13.146/2015)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Portais de ensino e de governo concentram serviços como matrícula e benefícios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Falhas recorrentes mostram distância entre a norma e a prática</a:t>
            </a: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C83F4-C754-5493-758B-064E4E9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EAACA6E4-00F2-A955-1957-4F467F6213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74C8AAD2-BFF4-21B8-4A87-79E7FD0BB2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55F3FA2C-B60D-0465-6983-3F4AE419E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400" b="1" dirty="0">
                <a:solidFill>
                  <a:srgbClr val="153553"/>
                </a:solidFill>
                <a:latin typeface="Verdana" pitchFamily="34" charset="0"/>
                <a:ea typeface="Verdana" pitchFamily="34" charset="0"/>
              </a:rPr>
              <a:t xml:space="preserve">Objetivo geral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Analisar como as WCAG 2.1 são aplicadas em sites brasileiros e quais barreiras limitam a conformidade</a:t>
            </a:r>
          </a:p>
          <a:p>
            <a:pPr>
              <a:spcBef>
                <a:spcPts val="600"/>
              </a:spcBef>
              <a:spcAft>
                <a:spcPts val="600"/>
              </a:spcAft>
              <a:buNone/>
            </a:pPr>
            <a:r>
              <a:rPr lang="pt-BR" sz="1400" b="1" dirty="0">
                <a:solidFill>
                  <a:srgbClr val="153553"/>
                </a:solidFill>
                <a:latin typeface="Verdana" pitchFamily="34" charset="0"/>
                <a:ea typeface="Verdana" pitchFamily="34" charset="0"/>
              </a:rPr>
              <a:t xml:space="preserve">Objetivos específicos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Mapear estudos que avaliam a conformidade de sites brasileiros com as WCAG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Identificar os princípios com mais falhas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Categorizar as barreiras em técnicas, organizacionais e formativas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Sintetizar as recomendações para o desenvolvimento web</a:t>
            </a: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92303B23-9EE7-A945-ACCA-0ED7F7863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3199D05E-CDE1-B4DE-09A7-4775D5F5C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  <p:extLst>
      <p:ext uri="{BB962C8B-B14F-4D97-AF65-F5344CB8AC3E}">
        <p14:creationId xmlns:p14="http://schemas.microsoft.com/office/powerpoint/2010/main" val="20284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50" y="6030911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0067" y="777875"/>
            <a:ext cx="528320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pt-BR"/>
            </a:defPPr>
            <a:lvl1pPr>
              <a:spcBef>
                <a:spcPct val="50000"/>
              </a:spcBef>
              <a:defRPr sz="3000" b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/>
            <a:lvl3pPr marL="1143000" indent="-228600"/>
            <a:lvl4pPr marL="1600200" indent="-228600"/>
            <a:lvl5pPr marL="2057400" indent="-228600"/>
            <a:lvl6pPr marL="2514600" indent="-228600" fontAlgn="base">
              <a:spcBef>
                <a:spcPct val="0"/>
              </a:spcBef>
              <a:spcAft>
                <a:spcPct val="0"/>
              </a:spcAft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</a:lvl9pPr>
          </a:lstStyle>
          <a:p>
            <a:r>
              <a:rPr lang="pt-BR" altLang="pt-BR" dirty="0"/>
              <a:t>METODOLOGIA/MÉTODO DA PESQUISA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C6B2C7A-E59D-5A67-500D-5262D5121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067" y="2719433"/>
            <a:ext cx="6130925" cy="7951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r>
              <a:rPr lang="pt-BR" sz="1800" dirty="0">
                <a:effectLst/>
                <a:latin typeface="Segoe UI" panose="020B0502040204020203" pitchFamily="34" charset="0"/>
              </a:rPr>
              <a:t>É uma abordagem qualitativa, de natureza teórica, sem procedimentos práticos e baseados em referenciais teóricos. </a:t>
            </a:r>
            <a:endParaRPr lang="pt-BR" sz="1800" dirty="0">
              <a:effectLst/>
              <a:latin typeface="Arial" panose="020B0604020202020204" pitchFamily="34" charset="0"/>
            </a:endParaRPr>
          </a:p>
          <a:p>
            <a:pPr>
              <a:buNone/>
            </a:pPr>
            <a:endParaRPr lang="pt-BR" sz="1000" dirty="0"/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Revisão bibliográfica na Biblioteca Digital da SBC e em periódicos de Sistemas de Informação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Descritores: "acessibilidade web", "WCAG" e "e-MAG"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Estudos empíricos de 2021 a 2026 sobre sites brasileiros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3 artigos selecionados e analisados por categorização temática</a:t>
            </a:r>
          </a:p>
        </p:txBody>
      </p:sp>
    </p:spTree>
    <p:extLst>
      <p:ext uri="{BB962C8B-B14F-4D97-AF65-F5344CB8AC3E}">
        <p14:creationId xmlns:p14="http://schemas.microsoft.com/office/powerpoint/2010/main" val="1004270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1DEED65-4293-70B7-FE9D-9EBEBFE6A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Batista e Baluz (2026):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20 sites de universidades públicas avaliados com o QualWeb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Batista e Baluz (2026):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média de falhas de 28,63% nas federais e 27,29% nas estaduais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Barros et al. (2024):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3 páginas do Gov.br avaliadas com ASES, AccessMonitor, TAW e Contrast Checker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Barros et al. (2024):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nenhuma página atende aos requisitos da Lei Brasileira de Inclusão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Camargo e Santos (2025):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Meu INSS avaliado com ASES, Axe-core e Lighthouse</a:t>
            </a:r>
          </a:p>
        </p:txBody>
      </p:sp>
    </p:spTree>
    <p:extLst>
      <p:ext uri="{BB962C8B-B14F-4D97-AF65-F5344CB8AC3E}">
        <p14:creationId xmlns:p14="http://schemas.microsoft.com/office/powerpoint/2010/main" val="2149392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BF27EDCF-BF92-8A03-B585-1969DD1D7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Os três estudos: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ausência de texto alternativo e contraste inadequado são as falhas dominantes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Barros et al. (2024):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90,71% a 97,69% no ASES (e-MAG), mas 5,6 a 7,3 de 10 no AccessMonitor (WCAG 2.1)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Divergência: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seguir o e-MAG não garante conformidade com as WCAG 2.1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Limite comum: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só ferramentas automáticas, sem testes com usuários com deficiência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Camargo e Santos (2025):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recomendações voltadas ao desenvolvedor</a:t>
            </a:r>
          </a:p>
        </p:txBody>
      </p:sp>
    </p:spTree>
    <p:extLst>
      <p:ext uri="{BB962C8B-B14F-4D97-AF65-F5344CB8AC3E}">
        <p14:creationId xmlns:p14="http://schemas.microsoft.com/office/powerpoint/2010/main" val="347241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8112" y="6154737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844550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CONSIDERAÇÕES FINAIS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BAA0655-280C-904A-F03E-0947DA860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208212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As WCAG 2.1 são aplicadas de forma parcial e inconsistente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O diagnóstico depende da ferramenta usada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As falhas mais comuns são simples e de baixo custo de correção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Validar com mais de uma ferramenta e com usuários com deficiência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Pesquisas futuras: causas da não conformidade e ensino de acessibilidade</a:t>
            </a:r>
          </a:p>
        </p:txBody>
      </p:sp>
    </p:spTree>
    <p:extLst>
      <p:ext uri="{BB962C8B-B14F-4D97-AF65-F5344CB8AC3E}">
        <p14:creationId xmlns:p14="http://schemas.microsoft.com/office/powerpoint/2010/main" val="3575197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2" y="2146301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spcAft>
                <a:spcPts val="800"/>
              </a:spcAft>
              <a:buFont typeface="Wingdings" pitchFamily="2" charset="2"/>
              <a:buChar char="ü"/>
            </a:pP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BARROS, Ygor Santos; OUTÃO, Juliana Carvalho Silva do; SACRAMENTO, Carolina; FERREIRA, Simone Bacellar Leal; PIMENTEL, Mariano Gomes; SANTOS, Rodrigo Pereira dos. Avaliação de acessibilidade da plataforma Gov.br por ferramentas automatizadas. In: LATIN AMERICAN SYMPOSIUM ON DIGITAL GOVERNMENT (LASDiGov), 12., 2024, Brasília. </a:t>
            </a:r>
            <a:r>
              <a:rPr lang="pt-BR" sz="1000" b="1" dirty="0">
                <a:latin typeface="Verdana" pitchFamily="34" charset="0"/>
                <a:ea typeface="Verdana" pitchFamily="34" charset="0"/>
              </a:rPr>
              <a:t xml:space="preserve">Anais</a:t>
            </a: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. Porto Alegre: Sociedade Brasileira de Computação, 2024. p. 50-61. DOI: 10.5753/wcge.2024.2282.</a:t>
            </a:r>
          </a:p>
          <a:p>
            <a:pPr marL="171450" indent="-171450">
              <a:spcAft>
                <a:spcPts val="800"/>
              </a:spcAft>
              <a:buFont typeface="Wingdings" pitchFamily="2" charset="2"/>
              <a:buChar char="ü"/>
            </a:pP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BATISTA, Heron Eduardo Nepomuceno; BALUZ, Rodrigo Augusto Rocha Souza. Avaliação de sites das instituições de ensino superior de acordo com as diretrizes de acessibilidade para conteúdo web (WCAG 2.1): uma análise comparativa das principais universidades federais e estaduais do Brasil. </a:t>
            </a:r>
            <a:r>
              <a:rPr lang="pt-BR" sz="1000" b="1" dirty="0">
                <a:latin typeface="Verdana" pitchFamily="34" charset="0"/>
                <a:ea typeface="Verdana" pitchFamily="34" charset="0"/>
              </a:rPr>
              <a:t xml:space="preserve">iSys: Revista Brasileira de Sistemas de Informação</a:t>
            </a: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, v. 18, n. 1, p. 14:1-14:27, 2026.</a:t>
            </a:r>
          </a:p>
          <a:p>
            <a:pPr marL="171450" indent="-171450">
              <a:spcAft>
                <a:spcPts val="800"/>
              </a:spcAft>
              <a:buFont typeface="Wingdings" pitchFamily="2" charset="2"/>
              <a:buChar char="ü"/>
            </a:pP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BRASIL. Lei nº 13.146, de 6 de julho de 2015. Institui a Lei Brasileira de Inclusão da Pessoa com Deficiência. </a:t>
            </a:r>
            <a:r>
              <a:rPr lang="pt-BR" sz="1000" b="1" dirty="0">
                <a:latin typeface="Verdana" pitchFamily="34" charset="0"/>
                <a:ea typeface="Verdana" pitchFamily="34" charset="0"/>
              </a:rPr>
              <a:t xml:space="preserve">Diário Oficial da União</a:t>
            </a: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, Brasília, DF, 7 jul. 2015.</a:t>
            </a:r>
          </a:p>
          <a:p>
            <a:pPr marL="171450" indent="-171450">
              <a:spcAft>
                <a:spcPts val="800"/>
              </a:spcAft>
              <a:buFont typeface="Wingdings" pitchFamily="2" charset="2"/>
              <a:buChar char="ü"/>
            </a:pP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CAMARGO, Marcos Vinicius Lopes; SANTOS, Sylvana Karla S. L. Avaliação da acessibilidade digital do site de governo Meu INSS com foco no desenvolvedor. In: SIMPÓSIO BRASILEIRO SOBRE FATORES HUMANOS EM SISTEMAS COMPUTACIONAIS (IHC), 24., 2025, Belo Horizonte. </a:t>
            </a:r>
            <a:r>
              <a:rPr lang="pt-BR" sz="1000" b="1" dirty="0">
                <a:latin typeface="Verdana" pitchFamily="34" charset="0"/>
                <a:ea typeface="Verdana" pitchFamily="34" charset="0"/>
              </a:rPr>
              <a:t xml:space="preserve">Anais Estendidos</a:t>
            </a: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. Porto Alegre: Sociedade Brasileira de Computação, 2025. p. 175-179. DOI: 10.5753/ihc_estendido.2025.13256.</a:t>
            </a: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706" y="844549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REFERÊNCIA BIBLIOGRÁFICA</a:t>
            </a:r>
          </a:p>
        </p:txBody>
      </p:sp>
    </p:spTree>
    <p:extLst>
      <p:ext uri="{BB962C8B-B14F-4D97-AF65-F5344CB8AC3E}">
        <p14:creationId xmlns:p14="http://schemas.microsoft.com/office/powerpoint/2010/main" val="128398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>
            <a:extLst>
              <a:ext uri="{FF2B5EF4-FFF2-40B4-BE49-F238E27FC236}">
                <a16:creationId xmlns:a16="http://schemas.microsoft.com/office/drawing/2014/main" id="{EEF05124-4115-43F9-BCFF-F980C8F42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5123" name="Espaço Reservado para Conteúdo 4" descr="Uma imagem contendo Retângulo&#10;&#10;Descrição gerada automaticamente">
            <a:extLst>
              <a:ext uri="{FF2B5EF4-FFF2-40B4-BE49-F238E27FC236}">
                <a16:creationId xmlns:a16="http://schemas.microsoft.com/office/drawing/2014/main" id="{8E1F7DDD-FF2A-43EE-909F-663635D2B2C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124" name="Text Box 6">
            <a:extLst>
              <a:ext uri="{FF2B5EF4-FFF2-40B4-BE49-F238E27FC236}">
                <a16:creationId xmlns:a16="http://schemas.microsoft.com/office/drawing/2014/main" id="{E223242B-36FC-4EDF-B7C1-F179D9876F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2471738"/>
            <a:ext cx="67056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“Acessibilidade digital é direito,</a:t>
            </a:r>
          </a:p>
          <a:p>
            <a:pPr algn="ctr">
              <a:spcBef>
                <a:spcPct val="50000"/>
              </a:spcBef>
            </a:pPr>
            <a:r>
              <a:rPr lang="pt-BR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não recurso extra.”</a:t>
            </a:r>
          </a:p>
          <a:p>
            <a:pPr algn="ctr">
              <a:spcBef>
                <a:spcPct val="50000"/>
              </a:spcBef>
            </a:pPr>
            <a:r>
              <a:rPr lang="pt-BR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Obrigado!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ítulo 1">
            <a:extLst>
              <a:ext uri="{FF2B5EF4-FFF2-40B4-BE49-F238E27FC236}">
                <a16:creationId xmlns:a16="http://schemas.microsoft.com/office/drawing/2014/main" id="{EC112F46-5108-40C3-808D-99567C1815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7171" name="Espaço Reservado para Conteúdo 4" descr="Uma imagem contendo Forma&#10;&#10;Descrição gerada automaticamente">
            <a:extLst>
              <a:ext uri="{FF2B5EF4-FFF2-40B4-BE49-F238E27FC236}">
                <a16:creationId xmlns:a16="http://schemas.microsoft.com/office/drawing/2014/main" id="{3179E142-1D8E-4F12-A1B5-DEAE3BD929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7172" name="Imagem 6" descr="Logotipo&#10;&#10;Descrição gerada automaticamente com confiança baixa">
            <a:extLst>
              <a:ext uri="{FF2B5EF4-FFF2-40B4-BE49-F238E27FC236}">
                <a16:creationId xmlns:a16="http://schemas.microsoft.com/office/drawing/2014/main" id="{1FB7FF44-5FE7-4823-AD16-37782FFAD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663" y="2763838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DAED1B117F6894D909B25A69A4597D2" ma:contentTypeVersion="11" ma:contentTypeDescription="Crie um novo documento." ma:contentTypeScope="" ma:versionID="fc0e1081098a96f1fc26b259e7bbb1c8">
  <xsd:schema xmlns:xsd="http://www.w3.org/2001/XMLSchema" xmlns:xs="http://www.w3.org/2001/XMLSchema" xmlns:p="http://schemas.microsoft.com/office/2006/metadata/properties" xmlns:ns2="0cd93fe2-0880-41f5-aab4-f958682b72cb" xmlns:ns3="18000554-2c77-4cf4-9366-a485aa9d7e35" targetNamespace="http://schemas.microsoft.com/office/2006/metadata/properties" ma:root="true" ma:fieldsID="f39cd65ee00b5e4c5dd2756fb7575f2f" ns2:_="" ns3:_="">
    <xsd:import namespace="0cd93fe2-0880-41f5-aab4-f958682b72cb"/>
    <xsd:import namespace="18000554-2c77-4cf4-9366-a485aa9d7e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d93fe2-0880-41f5-aab4-f958682b72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000554-2c77-4cf4-9366-a485aa9d7e3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661556-5590-415F-9315-F9BACBDA7B8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EB3752F-42B6-452F-9AAE-531B322245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d93fe2-0880-41f5-aab4-f958682b72cb"/>
    <ds:schemaRef ds:uri="18000554-2c77-4cf4-9366-a485aa9d7e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887</TotalTime>
  <Words>201</Words>
  <Application>Microsoft Office PowerPoint</Application>
  <PresentationFormat>Widescreen</PresentationFormat>
  <Paragraphs>65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Verdana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Criação 04</dc:creator>
  <cp:lastModifiedBy>Renata Costa</cp:lastModifiedBy>
  <cp:revision>20</cp:revision>
  <dcterms:created xsi:type="dcterms:W3CDTF">2021-05-14T17:32:15Z</dcterms:created>
  <dcterms:modified xsi:type="dcterms:W3CDTF">2025-05-22T21:53:16Z</dcterms:modified>
</cp:coreProperties>
</file>